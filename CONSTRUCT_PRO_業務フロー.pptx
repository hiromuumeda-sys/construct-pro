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478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CONSTRUCT_PRO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業務フロー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750A4"/>
          </a:solidFill>
          <a:ln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3200" b="1">
                <a:solidFill>
                  <a:srgbClr val="FFFFFF"/>
                </a:solidFill>
              </a:defRPr>
            </a:pPr>
            <a:r>
              <a:t>全体業務フロー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14400"/>
            <a:ext cx="1828800" cy="54864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① 初期設定</a:t>
            </a:r>
            <a:br/>
            <a:r>
              <a:t>（マスタ設定）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188720" y="146304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1828800"/>
            <a:ext cx="1828800" cy="54864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外注先を登録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88720" y="237744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4320" y="2743200"/>
            <a:ext cx="1828800" cy="54864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工事区分を登録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03120" y="3017520"/>
            <a:ext cx="548640" cy="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51760" y="914400"/>
            <a:ext cx="1828800" cy="54864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② 案件を登録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66160" y="146304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51760" y="1828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13338"/>
                </a:solidFill>
              </a:defRPr>
            </a:pPr>
            <a:r>
              <a:t>• 案件名、発注元</a:t>
            </a:r>
            <a:br/>
            <a:r>
              <a:t>• 発注者情報</a:t>
            </a:r>
            <a:br/>
            <a:r>
              <a:t>• 金額・工期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66160" y="274320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651760" y="3108960"/>
            <a:ext cx="1828800" cy="54864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③ 注文を登録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66160" y="365760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51760" y="40233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13338"/>
                </a:solidFill>
              </a:defRPr>
            </a:pPr>
            <a:r>
              <a:t>• 工事区分選択</a:t>
            </a:r>
            <a:br/>
            <a:r>
              <a:t>• 外注先選択</a:t>
            </a:r>
            <a:br/>
            <a:r>
              <a:t>• 金額入力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66160" y="475488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651760" y="5120640"/>
            <a:ext cx="1828800" cy="548640"/>
          </a:xfrm>
          <a:prstGeom prst="roundRect">
            <a:avLst/>
          </a:prstGeom>
          <a:solidFill>
            <a:srgbClr val="FF980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④ 注文書を</a:t>
            </a:r>
            <a:br/>
            <a:r>
              <a:t>発注先に送付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480560" y="5394960"/>
            <a:ext cx="548640" cy="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651760" y="57607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13338"/>
                </a:solidFill>
              </a:defRPr>
            </a:pPr>
            <a:r>
              <a:t>• 注文内容を PDF で作成</a:t>
            </a:r>
            <a:br/>
            <a:r>
              <a:t>• メール送信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4846320"/>
            <a:ext cx="1828800" cy="548640"/>
          </a:xfrm>
          <a:prstGeom prst="roundRect">
            <a:avLst/>
          </a:prstGeom>
          <a:solidFill>
            <a:srgbClr val="FF980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⑤ 請求書を</a:t>
            </a:r>
            <a:br/>
            <a:r>
              <a:t>発行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43600" y="539496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29200" y="10972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13338"/>
                </a:solidFill>
              </a:defRPr>
            </a:pPr>
            <a:r>
              <a:t>• 全注文を</a:t>
            </a:r>
            <a:br/>
            <a:r>
              <a:t>集計</a:t>
            </a:r>
            <a:br/>
            <a:r>
              <a:t>• PDF生成</a:t>
            </a:r>
            <a:br/>
            <a:r>
              <a:t>• 発注元に送付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5760720"/>
            <a:ext cx="1828800" cy="548640"/>
          </a:xfrm>
          <a:prstGeom prst="roundRect">
            <a:avLst/>
          </a:prstGeom>
          <a:solidFill>
            <a:srgbClr val="F44336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⑥ 請求書を</a:t>
            </a:r>
            <a:br/>
            <a:r>
              <a:t>メール送信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0" y="6309360"/>
            <a:ext cx="0" cy="9144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029200" y="6217920"/>
            <a:ext cx="1828800" cy="457200"/>
          </a:xfrm>
          <a:prstGeom prst="roundRect">
            <a:avLst/>
          </a:prstGeom>
          <a:solidFill>
            <a:srgbClr val="F44336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⑦ 支払い完了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750A4"/>
          </a:solidFill>
          <a:ln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3200" b="1">
                <a:solidFill>
                  <a:srgbClr val="FFFFFF"/>
                </a:solidFill>
              </a:defRPr>
            </a:pPr>
            <a:r>
              <a:t>① 初期設定フェーズ（マスタ設定）</a:t>
            </a:r>
          </a:p>
        </p:txBody>
      </p:sp>
      <p:sp>
        <p:nvSpPr>
          <p:cNvPr id="3" name="Oval 2"/>
          <p:cNvSpPr/>
          <p:nvPr/>
        </p:nvSpPr>
        <p:spPr>
          <a:xfrm>
            <a:off x="3429000" y="914400"/>
            <a:ext cx="1371600" cy="457200"/>
          </a:xfrm>
          <a:prstGeom prst="ellipse">
            <a:avLst/>
          </a:prstGeom>
          <a:solidFill>
            <a:srgbClr val="4CAF5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開始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0" y="1371600"/>
            <a:ext cx="0" cy="45720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200400" y="1828800"/>
            <a:ext cx="1828800" cy="54864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外注先マスタを</a:t>
            </a:r>
            <a:br/>
            <a:r>
              <a:t>セットアップ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0" y="2377440"/>
            <a:ext cx="0" cy="45720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0" y="164592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3338"/>
                </a:solidFill>
              </a:defRPr>
            </a:pPr>
            <a:r>
              <a:t>外注先情報：</a:t>
            </a:r>
            <a:br/>
            <a:r>
              <a:t>会社名、部署、担当者</a:t>
            </a:r>
            <a:br/>
            <a:r>
              <a:t>電話、メール、住所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834640"/>
            <a:ext cx="1828800" cy="54864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工事区分マスタを</a:t>
            </a:r>
            <a:br/>
            <a:r>
              <a:t>セットアップ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0" y="3383280"/>
            <a:ext cx="0" cy="45720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03520" y="26517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3338"/>
                </a:solidFill>
              </a:defRPr>
            </a:pPr>
            <a:r>
              <a:t>工事区分：</a:t>
            </a:r>
            <a:br/>
            <a:r>
              <a:t>塗装工事、電気工事、</a:t>
            </a:r>
            <a:br/>
            <a:r>
              <a:t>設備工事など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3840480"/>
            <a:ext cx="1828800" cy="54864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マスタ設定完了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0" y="4389120"/>
            <a:ext cx="0" cy="45720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429000" y="4846320"/>
            <a:ext cx="1371600" cy="457200"/>
          </a:xfrm>
          <a:prstGeom prst="ellipse">
            <a:avLst/>
          </a:prstGeom>
          <a:solidFill>
            <a:srgbClr val="4CAF5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完了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750A4"/>
          </a:solidFill>
          <a:ln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3200" b="1">
                <a:solidFill>
                  <a:srgbClr val="FFFFFF"/>
                </a:solidFill>
              </a:defRPr>
            </a:pPr>
            <a:r>
              <a:t>② 案件登録フェーズ</a:t>
            </a:r>
          </a:p>
        </p:txBody>
      </p:sp>
      <p:sp>
        <p:nvSpPr>
          <p:cNvPr id="3" name="Oval 2"/>
          <p:cNvSpPr/>
          <p:nvPr/>
        </p:nvSpPr>
        <p:spPr>
          <a:xfrm>
            <a:off x="3429000" y="914400"/>
            <a:ext cx="1371600" cy="457200"/>
          </a:xfrm>
          <a:prstGeom prst="ellipse">
            <a:avLst/>
          </a:prstGeom>
          <a:solidFill>
            <a:srgbClr val="4CAF5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開始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0" y="1371600"/>
            <a:ext cx="0" cy="45720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200400" y="1828800"/>
            <a:ext cx="1828800" cy="54864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案件を新規登録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0" y="2377440"/>
            <a:ext cx="0" cy="45720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0" y="16459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3338"/>
                </a:solidFill>
              </a:defRPr>
            </a:pPr>
            <a:r>
              <a:t>案件情報：</a:t>
            </a:r>
            <a:br/>
            <a:r>
              <a:t>案件名、発注元</a:t>
            </a:r>
            <a:br/>
            <a:r>
              <a:t>発注者電話・メール・住所</a:t>
            </a:r>
            <a:br/>
            <a:r>
              <a:t>契約金額、工期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834640"/>
            <a:ext cx="1828800" cy="54864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発注者情報を</a:t>
            </a:r>
            <a:br/>
            <a:r>
              <a:t>保存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0" y="3383280"/>
            <a:ext cx="0" cy="45720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00400" y="3840480"/>
            <a:ext cx="1828800" cy="54864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案件登録完了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0" y="4389120"/>
            <a:ext cx="0" cy="45720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429000" y="4846320"/>
            <a:ext cx="1371600" cy="457200"/>
          </a:xfrm>
          <a:prstGeom prst="ellipse">
            <a:avLst/>
          </a:prstGeom>
          <a:solidFill>
            <a:srgbClr val="4CAF5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完了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750A4"/>
          </a:solidFill>
          <a:ln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3200" b="1">
                <a:solidFill>
                  <a:srgbClr val="FFFFFF"/>
                </a:solidFill>
              </a:defRPr>
            </a:pPr>
            <a:r>
              <a:t>③ 注文登録フェーズ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914400"/>
            <a:ext cx="1371600" cy="457200"/>
          </a:xfrm>
          <a:prstGeom prst="ellipse">
            <a:avLst/>
          </a:prstGeom>
          <a:solidFill>
            <a:srgbClr val="4CAF5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開始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343400" y="1371600"/>
            <a:ext cx="0" cy="45720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429000" y="1828800"/>
            <a:ext cx="1828800" cy="54864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案件を選択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43400" y="2377440"/>
            <a:ext cx="0" cy="45720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429000" y="2834640"/>
            <a:ext cx="1828800" cy="54864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注文管理画面</a:t>
            </a:r>
            <a:br/>
            <a:r>
              <a:t>を開く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343400" y="3383280"/>
            <a:ext cx="0" cy="45720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29000" y="3840480"/>
            <a:ext cx="1828800" cy="54864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工事区分を</a:t>
            </a:r>
            <a:br/>
            <a:r>
              <a:t>選択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43400" y="4389120"/>
            <a:ext cx="0" cy="45720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0" y="3840480"/>
            <a:ext cx="1828800" cy="54864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外注先を</a:t>
            </a:r>
            <a:br/>
            <a:r>
              <a:t>選択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0" y="3383280"/>
            <a:ext cx="457200" cy="45720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172200" y="4389120"/>
            <a:ext cx="228600" cy="45720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343400" y="4846320"/>
            <a:ext cx="1828800" cy="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257800" y="4846320"/>
            <a:ext cx="1828800" cy="54864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見積額・決定額</a:t>
            </a:r>
            <a:br/>
            <a:r>
              <a:t>を入力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72200" y="5394960"/>
            <a:ext cx="0" cy="45720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57800" y="5852160"/>
            <a:ext cx="1828800" cy="54864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注文を登録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72200" y="6400800"/>
            <a:ext cx="0" cy="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750A4"/>
          </a:solidFill>
          <a:ln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3200" b="1">
                <a:solidFill>
                  <a:srgbClr val="FFFFFF"/>
                </a:solidFill>
              </a:defRPr>
            </a:pPr>
            <a:r>
              <a:t>④ 注文書を発注先に送付フェーズ</a:t>
            </a:r>
          </a:p>
        </p:txBody>
      </p:sp>
      <p:sp>
        <p:nvSpPr>
          <p:cNvPr id="3" name="Oval 2"/>
          <p:cNvSpPr/>
          <p:nvPr/>
        </p:nvSpPr>
        <p:spPr>
          <a:xfrm>
            <a:off x="3429000" y="914400"/>
            <a:ext cx="1371600" cy="457200"/>
          </a:xfrm>
          <a:prstGeom prst="ellipse">
            <a:avLst/>
          </a:prstGeom>
          <a:solidFill>
            <a:srgbClr val="4CAF5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開始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0" y="1371600"/>
            <a:ext cx="0" cy="45720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200400" y="1828800"/>
            <a:ext cx="1828800" cy="54864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登録した注文情報</a:t>
            </a:r>
            <a:br/>
            <a:r>
              <a:t>を確認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0" y="2377440"/>
            <a:ext cx="0" cy="45720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200400" y="2834640"/>
            <a:ext cx="1828800" cy="54864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工事区分・外注先</a:t>
            </a:r>
            <a:br/>
            <a:r>
              <a:t>ごとに注文書</a:t>
            </a:r>
            <a:br/>
            <a:r>
              <a:t>を作成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0" y="3383280"/>
            <a:ext cx="0" cy="45720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0" y="256032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3338"/>
                </a:solidFill>
              </a:defRPr>
            </a:pPr>
            <a:r>
              <a:t>注文書内容：</a:t>
            </a:r>
            <a:br/>
            <a:r>
              <a:t>• 案件名</a:t>
            </a:r>
            <a:br/>
            <a:r>
              <a:t>• 工事内容</a:t>
            </a:r>
            <a:br/>
            <a:r>
              <a:t>• 見積額・決定金額</a:t>
            </a:r>
            <a:br/>
            <a:r>
              <a:t>• 工期</a:t>
            </a:r>
            <a:br/>
            <a:r>
              <a:t>• 見積条件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3840480"/>
            <a:ext cx="1828800" cy="548640"/>
          </a:xfrm>
          <a:prstGeom prst="roundRect">
            <a:avLst/>
          </a:prstGeom>
          <a:solidFill>
            <a:srgbClr val="FF980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注文書を</a:t>
            </a:r>
            <a:br/>
            <a:r>
              <a:t>PDF化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0" y="4389120"/>
            <a:ext cx="0" cy="45720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200400" y="4846320"/>
            <a:ext cx="1828800" cy="548640"/>
          </a:xfrm>
          <a:prstGeom prst="roundRect">
            <a:avLst/>
          </a:prstGeom>
          <a:solidFill>
            <a:srgbClr val="FF980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外注先に</a:t>
            </a:r>
            <a:br/>
            <a:r>
              <a:t>メール送信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14800" y="5394960"/>
            <a:ext cx="0" cy="45720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429000" y="5852160"/>
            <a:ext cx="1371600" cy="457200"/>
          </a:xfrm>
          <a:prstGeom prst="ellipse">
            <a:avLst/>
          </a:prstGeom>
          <a:solidFill>
            <a:srgbClr val="4CAF5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完了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750A4"/>
          </a:solidFill>
          <a:ln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3200" b="1">
                <a:solidFill>
                  <a:srgbClr val="FFFFFF"/>
                </a:solidFill>
              </a:defRPr>
            </a:pPr>
            <a:r>
              <a:t>⑤ 請求書発行フェーズ</a:t>
            </a:r>
          </a:p>
        </p:txBody>
      </p:sp>
      <p:sp>
        <p:nvSpPr>
          <p:cNvPr id="3" name="Oval 2"/>
          <p:cNvSpPr/>
          <p:nvPr/>
        </p:nvSpPr>
        <p:spPr>
          <a:xfrm>
            <a:off x="3429000" y="914400"/>
            <a:ext cx="1371600" cy="457200"/>
          </a:xfrm>
          <a:prstGeom prst="ellipse">
            <a:avLst/>
          </a:prstGeom>
          <a:solidFill>
            <a:srgbClr val="4CAF5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開始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0" y="1371600"/>
            <a:ext cx="0" cy="45720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200400" y="1828800"/>
            <a:ext cx="1828800" cy="54864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案件の注文管理</a:t>
            </a:r>
            <a:br/>
            <a:r>
              <a:t>画面を開く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0" y="2377440"/>
            <a:ext cx="0" cy="45720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200400" y="2834640"/>
            <a:ext cx="1828800" cy="54864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「請求書を発行」</a:t>
            </a:r>
            <a:br/>
            <a:r>
              <a:t>をクリック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0" y="3383280"/>
            <a:ext cx="0" cy="45720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200400" y="3840480"/>
            <a:ext cx="1828800" cy="548640"/>
          </a:xfrm>
          <a:prstGeom prst="roundRect">
            <a:avLst/>
          </a:prstGeom>
          <a:solidFill>
            <a:srgbClr val="FF980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請求書PDF</a:t>
            </a:r>
            <a:br/>
            <a:r>
              <a:t>を生成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14800" y="4389120"/>
            <a:ext cx="0" cy="45720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303520" y="356616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13338"/>
                </a:solidFill>
              </a:defRPr>
            </a:pPr>
            <a:r>
              <a:t>請求書内容：</a:t>
            </a:r>
            <a:br/>
            <a:r>
              <a:t>• 発注元情報</a:t>
            </a:r>
            <a:br/>
            <a:r>
              <a:t>• 工事ごとの注文</a:t>
            </a:r>
            <a:br/>
            <a:r>
              <a:t>• 決定額の合計</a:t>
            </a:r>
            <a:br/>
            <a:r>
              <a:t>• 消費税（10%）</a:t>
            </a:r>
            <a:br/>
            <a:r>
              <a:t>• 合計金額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4846320"/>
            <a:ext cx="1828800" cy="548640"/>
          </a:xfrm>
          <a:prstGeom prst="roundRect">
            <a:avLst/>
          </a:prstGeom>
          <a:solidFill>
            <a:srgbClr val="FF980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PDF をダウンロード</a:t>
            </a:r>
            <a:br/>
            <a:r>
              <a:t>または印刷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14800" y="5394960"/>
            <a:ext cx="0" cy="45720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429000" y="5852160"/>
            <a:ext cx="1371600" cy="457200"/>
          </a:xfrm>
          <a:prstGeom prst="ellipse">
            <a:avLst/>
          </a:prstGeom>
          <a:solidFill>
            <a:srgbClr val="4CAF5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完了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750A4"/>
          </a:solidFill>
          <a:ln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3200" b="1">
                <a:solidFill>
                  <a:srgbClr val="FFFFFF"/>
                </a:solidFill>
              </a:defRPr>
            </a:pPr>
            <a:r>
              <a:t>⑥⑦ 請求書メール送信 &amp; 支払い管理フェーズ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4789"/>
                </a:solidFill>
              </a:defRPr>
            </a:pPr>
            <a:r>
              <a:t>【メール送信】（準備中）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463040"/>
            <a:ext cx="1188720" cy="365760"/>
          </a:xfrm>
          <a:prstGeom prst="ellipse">
            <a:avLst/>
          </a:prstGeom>
          <a:solidFill>
            <a:srgbClr val="4CAF5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開始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08760" y="182880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2194560"/>
            <a:ext cx="1554480" cy="45720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メールを</a:t>
            </a:r>
            <a:br/>
            <a:r>
              <a:t>作成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08760" y="265176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31520" y="3017520"/>
            <a:ext cx="1554480" cy="45720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請求書PDF</a:t>
            </a:r>
            <a:br/>
            <a:r>
              <a:t>を添付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08760" y="347472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1520" y="3840480"/>
            <a:ext cx="1554480" cy="457200"/>
          </a:xfrm>
          <a:prstGeom prst="roundRect">
            <a:avLst/>
          </a:prstGeom>
          <a:solidFill>
            <a:srgbClr val="FF980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発注元に</a:t>
            </a:r>
            <a:br/>
            <a:r>
              <a:t>送信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08760" y="429768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14400" y="4663440"/>
            <a:ext cx="1188720" cy="365760"/>
          </a:xfrm>
          <a:prstGeom prst="ellipse">
            <a:avLst/>
          </a:prstGeom>
          <a:solidFill>
            <a:srgbClr val="4CAF5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完了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0972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4789"/>
                </a:solidFill>
              </a:defRPr>
            </a:pPr>
            <a:r>
              <a:t>【支払い管理】</a:t>
            </a:r>
          </a:p>
        </p:txBody>
      </p:sp>
      <p:sp>
        <p:nvSpPr>
          <p:cNvPr id="14" name="Oval 13"/>
          <p:cNvSpPr/>
          <p:nvPr/>
        </p:nvSpPr>
        <p:spPr>
          <a:xfrm>
            <a:off x="5577840" y="1463040"/>
            <a:ext cx="1188720" cy="365760"/>
          </a:xfrm>
          <a:prstGeom prst="ellipse">
            <a:avLst/>
          </a:prstGeom>
          <a:solidFill>
            <a:srgbClr val="4CAF5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開始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72200" y="182880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303520" y="2194560"/>
            <a:ext cx="1737360" cy="45720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案件マスタ</a:t>
            </a:r>
            <a:br/>
            <a:r>
              <a:t>を開く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72200" y="265176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303520" y="3017520"/>
            <a:ext cx="1737360" cy="45720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支払い状況</a:t>
            </a:r>
            <a:br/>
            <a:r>
              <a:t>を確認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72200" y="347472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Diamond 19"/>
          <p:cNvSpPr/>
          <p:nvPr/>
        </p:nvSpPr>
        <p:spPr>
          <a:xfrm>
            <a:off x="5440680" y="3840480"/>
            <a:ext cx="1463040" cy="548640"/>
          </a:xfrm>
          <a:prstGeom prst="diamond">
            <a:avLst/>
          </a:prstGeom>
          <a:solidFill>
            <a:srgbClr val="FF980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支払い済み？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72200" y="438912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303520" y="4754880"/>
            <a:ext cx="1737360" cy="457200"/>
          </a:xfrm>
          <a:prstGeom prst="roundRect">
            <a:avLst/>
          </a:prstGeom>
          <a:solidFill>
            <a:srgbClr val="F44336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「支払い済み」</a:t>
            </a:r>
            <a:br/>
            <a:r>
              <a:t>にチェック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72200" y="521208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577840" y="5577840"/>
            <a:ext cx="1188720" cy="365760"/>
          </a:xfrm>
          <a:prstGeom prst="ellipse">
            <a:avLst/>
          </a:prstGeom>
          <a:solidFill>
            <a:srgbClr val="4CAF5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完了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750A4"/>
          </a:solidFill>
          <a:ln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3200" b="1">
                <a:solidFill>
                  <a:srgbClr val="FFFFFF"/>
                </a:solidFill>
              </a:defRPr>
            </a:pPr>
            <a:r>
              <a:t>各画面での実行内容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828800" cy="320040"/>
          </a:xfrm>
          <a:prstGeom prst="rect">
            <a:avLst/>
          </a:prstGeom>
          <a:solidFill>
            <a:srgbClr val="6750A4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7373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画面名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914400"/>
            <a:ext cx="2743200" cy="320040"/>
          </a:xfrm>
          <a:prstGeom prst="rect">
            <a:avLst/>
          </a:prstGeom>
          <a:solidFill>
            <a:srgbClr val="6750A4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31720" y="932688"/>
            <a:ext cx="26517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実行内容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914400"/>
            <a:ext cx="2743200" cy="320040"/>
          </a:xfrm>
          <a:prstGeom prst="rect">
            <a:avLst/>
          </a:prstGeom>
          <a:solidFill>
            <a:srgbClr val="6750A4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74920" y="932688"/>
            <a:ext cx="26517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データ参照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71016"/>
            <a:ext cx="18288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89304"/>
            <a:ext cx="173736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案件マスタ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271016"/>
            <a:ext cx="27432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1289304"/>
            <a:ext cx="265176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• 案件登録・編集・削除</a:t>
            </a:r>
            <a:br/>
            <a:r>
              <a:t>• 請求書発行</a:t>
            </a:r>
            <a:br/>
            <a:r>
              <a:t>• 支払い管理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271016"/>
            <a:ext cx="27432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1289304"/>
            <a:ext cx="265176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外注先、工事区分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01952"/>
            <a:ext cx="18288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920240"/>
            <a:ext cx="173736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工事区分マスタ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1901952"/>
            <a:ext cx="27432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31720" y="1920240"/>
            <a:ext cx="265176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• 工事区分の登録・編集</a:t>
            </a:r>
            <a:br/>
            <a:r>
              <a:t>• 削除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1901952"/>
            <a:ext cx="27432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1920240"/>
            <a:ext cx="265176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（独立）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532888"/>
            <a:ext cx="18288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551176"/>
            <a:ext cx="173736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外注先マスタ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2532888"/>
            <a:ext cx="27432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31720" y="2551176"/>
            <a:ext cx="265176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• 外注先の登録・編集</a:t>
            </a:r>
            <a:br/>
            <a:r>
              <a:t>• 削除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2532888"/>
            <a:ext cx="27432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2551176"/>
            <a:ext cx="265176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（独立）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63824"/>
            <a:ext cx="18288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182112"/>
            <a:ext cx="173736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注文管理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0" y="3163824"/>
            <a:ext cx="27432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31720" y="3182112"/>
            <a:ext cx="265176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• 注文登録・編集・削除</a:t>
            </a:r>
            <a:br/>
            <a:r>
              <a:t>• 注文書発行・送付</a:t>
            </a:r>
            <a:br/>
            <a:r>
              <a:t>• 請求書発行・送付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3163824"/>
            <a:ext cx="27432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3182112"/>
            <a:ext cx="265176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案件、工事区分、外注先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750A4"/>
          </a:solidFill>
          <a:ln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3200" b="1">
                <a:solidFill>
                  <a:srgbClr val="FFFFFF"/>
                </a:solidFill>
              </a:defRPr>
            </a:pPr>
            <a:r>
              <a:t>CONSTRUCT_PRO の特徴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96F3"/>
                </a:solidFill>
              </a:defRPr>
            </a:pPr>
            <a:r>
              <a:t>1. グローバルキャッシュシステム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13338"/>
                </a:solidFill>
              </a:defRPr>
            </a:pPr>
            <a:r>
              <a:t>初回読み込み時に全マスタデータを取得し、</a:t>
            </a:r>
            <a:br/>
            <a:r>
              <a:t>各ページで高速に参照可能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9800"/>
                </a:solidFill>
              </a:defRPr>
            </a:pPr>
            <a:r>
              <a:t>2. 注文書の自動生成・送付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13338"/>
                </a:solidFill>
              </a:defRPr>
            </a:pPr>
            <a:r>
              <a:t>工事区分ごとに注文書を作成し、</a:t>
            </a:r>
            <a:br/>
            <a:r>
              <a:t>外注先にメール送信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9800"/>
                </a:solidFill>
              </a:defRPr>
            </a:pPr>
            <a:r>
              <a:t>3. 一括請求書発行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13338"/>
                </a:solidFill>
              </a:defRPr>
            </a:pPr>
            <a:r>
              <a:t>案件の全注文をまとめた請求書を</a:t>
            </a:r>
            <a:br/>
            <a:r>
              <a:t>PDF形式で自動生成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44336"/>
                </a:solidFill>
              </a:defRPr>
            </a:pPr>
            <a:r>
              <a:t>4. 支払い管理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13338"/>
                </a:solidFill>
              </a:defRPr>
            </a:pPr>
            <a:r>
              <a:t>案件ごとに支払い/未払いを管理し、</a:t>
            </a:r>
            <a:br/>
            <a:r>
              <a:t>可視化する仕組み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750A4"/>
          </a:solidFill>
          <a:ln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3200" b="1">
                <a:solidFill>
                  <a:srgbClr val="FFFFFF"/>
                </a:solidFill>
              </a:defRPr>
            </a:pPr>
            <a:r>
              <a:t>本番環境アーキテクチャ（Railway）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B4789"/>
                </a:solidFill>
              </a:defRPr>
            </a:pPr>
            <a:r>
              <a:t>【クライアント】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371600"/>
            <a:ext cx="2286000" cy="45720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ブラウザ</a:t>
            </a:r>
            <a:br/>
            <a:r>
              <a:t>(HTML/CSS/JS)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0" y="182880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B4789"/>
                </a:solidFill>
              </a:defRPr>
            </a:pPr>
            <a:r>
              <a:t>【Railway クラウド】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560320"/>
            <a:ext cx="2743200" cy="54864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Node.js + Express</a:t>
            </a:r>
            <a:br/>
            <a:r>
              <a:t>(CONSTRUCT_PRO)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310896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0" y="347472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13338"/>
                </a:solidFill>
              </a:defRPr>
            </a:pPr>
            <a:r>
              <a:t>• API エンドポイント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3749039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13338"/>
                </a:solidFill>
              </a:defRPr>
            </a:pPr>
            <a:r>
              <a:t>• PDF 生成（PDFKit）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023359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13338"/>
                </a:solidFill>
              </a:defRPr>
            </a:pPr>
            <a:r>
              <a:t>• メール送信（nodemailer）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0" y="3108960"/>
            <a:ext cx="0" cy="8229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B4789"/>
                </a:solidFill>
              </a:defRPr>
            </a:pPr>
            <a:r>
              <a:t>【Railway Database】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4297680"/>
            <a:ext cx="1828800" cy="54864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PostgreSQL</a:t>
            </a:r>
            <a:br/>
            <a:r>
              <a:t>（本番DB）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00400" y="4846320"/>
            <a:ext cx="0" cy="36576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5212080"/>
            <a:ext cx="1371600" cy="3657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313338"/>
                </a:solidFill>
              </a:defRPr>
            </a:pPr>
            <a:r>
              <a:t>projects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5212080"/>
            <a:ext cx="1371600" cy="3657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313338"/>
                </a:solidFill>
              </a:defRPr>
            </a:pPr>
            <a:r>
              <a:t>orders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5212080"/>
            <a:ext cx="1371600" cy="3657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313338"/>
                </a:solidFill>
              </a:defRPr>
            </a:pPr>
            <a:r>
              <a:t>vendors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5212080"/>
            <a:ext cx="1371600" cy="3657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313338"/>
                </a:solidFill>
              </a:defRPr>
            </a:pPr>
            <a:r>
              <a:t>categories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43600" y="4846320"/>
            <a:ext cx="914400" cy="18288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583680" y="4297680"/>
            <a:ext cx="1828800" cy="548640"/>
          </a:xfrm>
          <a:prstGeom prst="roundRect">
            <a:avLst/>
          </a:prstGeom>
          <a:solidFill>
            <a:srgbClr val="FF980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SendGrid</a:t>
            </a:r>
            <a:br/>
            <a:r>
              <a:t>または</a:t>
            </a:r>
            <a:br/>
            <a:r>
              <a:t>AWS SES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43600" y="3108960"/>
            <a:ext cx="914400" cy="182880"/>
          </a:xfrm>
          <a:prstGeom prst="line">
            <a:avLst/>
          </a:prstGeom>
          <a:ln w="25400">
            <a:solidFill>
              <a:srgbClr val="31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583680" y="2560320"/>
            <a:ext cx="1828800" cy="548640"/>
          </a:xfrm>
          <a:prstGeom prst="roundRect">
            <a:avLst/>
          </a:prstGeom>
          <a:solidFill>
            <a:srgbClr val="FF980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AWS S3</a:t>
            </a:r>
            <a:br/>
            <a:r>
              <a:t>（PDF・ファイル</a:t>
            </a:r>
            <a:br/>
            <a:r>
              <a:t>保存）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750A4"/>
          </a:solidFill>
          <a:ln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3200" b="1">
                <a:solidFill>
                  <a:srgbClr val="FFFFFF"/>
                </a:solidFill>
              </a:defRPr>
            </a:pPr>
            <a:r>
              <a:t>本番環境ランニングコスト内訳（Railway）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750A4"/>
                </a:solidFill>
              </a:defRPr>
            </a:pPr>
            <a:r>
              <a:t>1. Railway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98448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• CPU: 0.5 ~ 2 vCPU（スケール可能）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3619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• メモリ: 0.5GB ~ 2GB（スケール可能）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73936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• 従量課金: 約¥30～100/月（軽負荷時）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  → ¥300～600/月（中負荷）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40864"/>
            <a:ext cx="7863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750A4"/>
                </a:solidFill>
              </a:defRPr>
            </a:pPr>
            <a:r>
              <a:t>2. Railway PostgreSQL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3347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• ストレージ: 1GB（含まれる）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71215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• 追加容量: ¥2～5/GB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59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• 従量課金: 約¥50～150/月（軽～中負荷）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38143"/>
            <a:ext cx="7863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750A4"/>
                </a:solidFill>
              </a:defRPr>
            </a:pPr>
            <a:r>
              <a:t>3. AWS S3（PDF・ファイル保存）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30751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• ストレージ: 最初の1GB無料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968495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• 従量課金: ¥0.023/GB（東京リージョン）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206239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• 請求額: 約¥0～50/月（軽～中負荷）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35423"/>
            <a:ext cx="7863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750A4"/>
                </a:solidFill>
              </a:defRPr>
            </a:pPr>
            <a:r>
              <a:t>4. メール送信サービス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28031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• SendGrid: 月100件無料、以降¥2～10/月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065775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• AWS SES: 月62,000件無料、以降¥0.1/件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303519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• 推定: ¥0～100/月（本番想定）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632703"/>
            <a:ext cx="7863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750A4"/>
                </a:solidFill>
              </a:defRPr>
            </a:pPr>
            <a:r>
              <a:t>5. DB バックアップ（デイリー）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925311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• Railway バックアップ: 約¥700～1,400/月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6163055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• 保持期間: 直近30日分保存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6400799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• 自動復旧機能付き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729983"/>
            <a:ext cx="7863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750A4"/>
                </a:solidFill>
              </a:defRPr>
            </a:pPr>
            <a:r>
              <a:t>6. ドメイン・SSL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7022591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• Railway カスタムドメイン: 無料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7260335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• SSL証明書: 自動更新（無料）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7498079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• 外部ドメイン: ¥500～1,500/年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8010143"/>
            <a:ext cx="6400800" cy="457200"/>
          </a:xfrm>
          <a:prstGeom prst="roundRect">
            <a:avLst/>
          </a:prstGeom>
          <a:solidFill>
            <a:srgbClr val="8B4789"/>
          </a:solidFill>
          <a:ln w="25400">
            <a:solidFill>
              <a:srgbClr val="8B4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想定月額コスト: ¥780～2,350/月（デイリーバックアップ含む）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750A4"/>
          </a:solidFill>
          <a:ln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3200" b="1">
                <a:solidFill>
                  <a:srgbClr val="FFFFFF"/>
                </a:solidFill>
              </a:defRPr>
            </a:pPr>
            <a:r>
              <a:t>SQLite → PostgreSQL 移行ガイド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196F3"/>
                </a:solidFill>
              </a:defRPr>
            </a:pPr>
            <a:r>
              <a:t>ステップ 1: Railway 準備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98448"/>
            <a:ext cx="7406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Railway にプロジェクト作成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27048"/>
            <a:ext cx="7406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PostgreSQL アドオンを追加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55648"/>
            <a:ext cx="7406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接続情報（HOST, PORT, USER, PASS）を取得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7863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196F3"/>
                </a:solidFill>
              </a:defRPr>
            </a:pPr>
            <a:r>
              <a:t>ステップ 2: コード修正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50008"/>
            <a:ext cx="7406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better-sqlite3 → node-postgres (pg) に切り替え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78608"/>
            <a:ext cx="7406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環境変数から DB 接続情報を読み込み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07208"/>
            <a:ext cx="7406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スキーマ（テーブル定義）を実行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7863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196F3"/>
                </a:solidFill>
              </a:defRPr>
            </a:pPr>
            <a:r>
              <a:t>ステップ 3: データ移行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01568"/>
            <a:ext cx="7406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既存 SQLite データをエクスポート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30168"/>
            <a:ext cx="7406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PostgreSQL にインポート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858768"/>
            <a:ext cx="7406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データ整合性を確認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60520"/>
            <a:ext cx="7863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196F3"/>
                </a:solidFill>
              </a:defRPr>
            </a:pPr>
            <a:r>
              <a:t>ステップ 4: デプロイ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453128"/>
            <a:ext cx="7406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GitHub に code push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681728"/>
            <a:ext cx="7406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Railway が自動ビルド・デプロイ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910328"/>
            <a:ext cx="7406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本番環境で動作確認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750A4"/>
          </a:solidFill>
          <a:ln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3200" b="1">
                <a:solidFill>
                  <a:srgbClr val="FFFFFF"/>
                </a:solidFill>
              </a:defRPr>
            </a:pPr>
            <a:r>
              <a:t>本番デプロイ前チェックリスト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13338"/>
                </a:solidFill>
              </a:defRPr>
            </a:pPr>
            <a:r>
              <a:t>□ Railway アカウント作成・プロジェクト設定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13338"/>
                </a:solidFill>
              </a:defRPr>
            </a:pPr>
            <a:r>
              <a:t>□ PostgreSQL アドオン追加・初期化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13338"/>
                </a:solidFill>
              </a:defRPr>
            </a:pPr>
            <a:r>
              <a:t>□ 環境変数設定（DB_HOST, DB_USER, DB_PASS など）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13338"/>
                </a:solidFill>
              </a:defRPr>
            </a:pPr>
            <a:r>
              <a:t>□ GitHub リポジトリ接続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13338"/>
                </a:solidFill>
              </a:defRPr>
            </a:pPr>
            <a:r>
              <a:t>□ .env.production ファイル準備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13338"/>
                </a:solidFill>
              </a:defRPr>
            </a:pPr>
            <a:r>
              <a:t>□ node_modules, .git などの.gitignore 確認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13338"/>
                </a:solidFill>
              </a:defRPr>
            </a:pPr>
            <a:r>
              <a:t>□ SMTP サービス設定（メール送信機能用）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39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13338"/>
                </a:solidFill>
              </a:defRPr>
            </a:pPr>
            <a:r>
              <a:t>□ ドメイン設定（カスタムドメイン or railway.app 利用）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59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13338"/>
                </a:solidFill>
              </a:defRPr>
            </a:pPr>
            <a:r>
              <a:t>□ SSL 証明書（自動更新に任せる）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83279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13338"/>
                </a:solidFill>
              </a:defRPr>
            </a:pPr>
            <a:r>
              <a:t>□ ローカルテスト完了（全機能動作確認）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599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13338"/>
                </a:solidFill>
              </a:defRPr>
            </a:pPr>
            <a:r>
              <a:t>□ セキュリティ確認（SQL インジェクション対策など）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31919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13338"/>
                </a:solidFill>
              </a:defRPr>
            </a:pPr>
            <a:r>
              <a:t>□ バックアップ戦略決定（Railway バックアップ機能利用）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750A4"/>
          </a:solidFill>
          <a:ln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3200" b="1">
                <a:solidFill>
                  <a:srgbClr val="FFFFFF"/>
                </a:solidFill>
              </a:defRPr>
            </a:pPr>
            <a:r>
              <a:t>本番運用上の注意点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B4789"/>
                </a:solidFill>
              </a:defRPr>
            </a:pPr>
            <a:r>
              <a:t>■ セキュリティ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7406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• 環境変数に機密情報（DB パス、API キー）を保存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7406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• HTTPS 必須（Railway が自動対応）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7406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• SQL インジェクション対策：パラメータ化クエリを使用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79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B4789"/>
                </a:solidFill>
              </a:defRPr>
            </a:pPr>
            <a:r>
              <a:t>■ バックアップ &amp; 災害復旧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5999"/>
            <a:ext cx="7406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• Railway PostgreSQL デイリーバックアップ（自動）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14599"/>
            <a:ext cx="7406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• 保持期間: 直近30日分（毎日実行）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43199"/>
            <a:ext cx="7406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• バックアップから1時間以内に復旧可能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71799"/>
            <a:ext cx="7406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• 月額コスト: ¥700～1,400（専用アドオン利用時）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37559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B4789"/>
                </a:solidFill>
              </a:defRPr>
            </a:pPr>
            <a:r>
              <a:t>■ モニタリング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11879"/>
            <a:ext cx="7406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• Railway のログ機能で エラー監視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840479"/>
            <a:ext cx="7406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• CPU・メモリ使用率を定期確認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69079"/>
            <a:ext cx="7406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• メモリ不足時はスケール検討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B4789"/>
                </a:solidFill>
              </a:defRPr>
            </a:pPr>
            <a:r>
              <a:t>■ パフォーマンス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709159"/>
            <a:ext cx="7406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• データベースインデックス設定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937759"/>
            <a:ext cx="7406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• クエリ最適化（不要な JOIN を削減）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166359"/>
            <a:ext cx="7406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13338"/>
                </a:solidFill>
              </a:defRPr>
            </a:pPr>
            <a:r>
              <a:t>• キャッシング戦略（グローバルキャッシュを活用）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